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a55d2fce-c463-6b6d-6783-6f9b53778362}">
          <p14:sldIdLst>
            <p14:sldId id="256"/>
            <p14:sldId id="257"/>
          </p14:sldIdLst>
        </p14:section>
        <p14:section name="참고 자료" id="{03e7461d-eb19-2e3c-0851-7457ed22526d}">
          <p14:sldIdLst>
            <p14:sldId id="258"/>
            <p14:sldId id="259"/>
          </p14:sldIdLst>
        </p14:section>
        <p14:section name="개발 방식" id="{f62bc693-ba46-d52b-f7a3-b1348f60bf21}">
          <p14:sldIdLst>
            <p14:sldId id="260"/>
            <p14:sldId id="261"/>
            <p14:sldId id="262"/>
          </p14:sldIdLst>
        </p14:section>
        <p14:section name="요구 사양" id="{c9832335-b01c-d447-9489-919e92c63e0a}">
          <p14:sldIdLst>
            <p14:sldId id="263"/>
            <p14:sldId id="264"/>
          </p14:sldIdLst>
        </p14:section>
        <p14:section name="회신 요청" id="{15a8a1e5-0308-9df3-f6d8-9d2b82739315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5760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5760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두피 스캐너 접사 렌즈 제작 요청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두피 스캐너용 자동초점 접사 렌즈 제작 요청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IMX708 센서 · 촬영 범위 6.0 × 6.0 mm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카메라 모듈 ~ 피사체 20 mm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A안 덧대기 / B안 렌즈 교체 · 2026. 10</a:t>
            </a:r>
            <a:endParaRPr lang="en-US" sz="1600" dirty="0"/>
          </a:p>
        </p:txBody>
      </p:sp>
      <p:sp>
        <p:nvSpPr>
          <p:cNvPr id="4" name="title-ring0"/>
          <p:cNvSpPr/>
          <p:nvPr/>
        </p:nvSpPr>
        <p:spPr>
          <a:xfrm>
            <a:off x="6537960" y="1463040"/>
            <a:ext cx="2194560" cy="2194560"/>
          </a:xfrm>
          <a:prstGeom prst="ellipse">
            <a:avLst/>
          </a:prstGeom>
          <a:ln w="31750">
            <a:solidFill>
              <a:srgbClr val="1F7A8C"/>
            </a:solidFill>
            <a:prstDash val="solid"/>
          </a:ln>
        </p:spPr>
      </p:sp>
      <p:sp>
        <p:nvSpPr>
          <p:cNvPr id="5" name="title-ring1"/>
          <p:cNvSpPr/>
          <p:nvPr/>
        </p:nvSpPr>
        <p:spPr>
          <a:xfrm>
            <a:off x="6845198" y="1770278"/>
            <a:ext cx="1580083" cy="1580083"/>
          </a:xfrm>
          <a:prstGeom prst="ellipse">
            <a:avLst/>
          </a:prstGeom>
          <a:ln w="25400">
            <a:solidFill>
              <a:srgbClr val="1F7A8C"/>
            </a:solidFill>
            <a:prstDash val="solid"/>
          </a:ln>
        </p:spPr>
      </p:sp>
      <p:sp>
        <p:nvSpPr>
          <p:cNvPr id="6" name="title-ring2"/>
          <p:cNvSpPr/>
          <p:nvPr/>
        </p:nvSpPr>
        <p:spPr>
          <a:xfrm>
            <a:off x="7152437" y="2077517"/>
            <a:ext cx="965606" cy="965606"/>
          </a:xfrm>
          <a:prstGeom prst="ellipse">
            <a:avLst/>
          </a:prstGeom>
          <a:ln w="19050">
            <a:solidFill>
              <a:srgbClr val="1F7A8C"/>
            </a:solidFill>
            <a:prstDash val="solid"/>
          </a:ln>
        </p:spPr>
      </p:sp>
      <p:sp>
        <p:nvSpPr>
          <p:cNvPr id="7" name="title-core"/>
          <p:cNvSpPr/>
          <p:nvPr/>
        </p:nvSpPr>
        <p:spPr>
          <a:xfrm>
            <a:off x="7434072" y="2359152"/>
            <a:ext cx="402336" cy="402336"/>
          </a:xfrm>
          <a:prstGeom prst="ellipse">
            <a:avLst/>
          </a:prstGeom>
          <a:solidFill>
            <a:schemeClr val="accent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요청 요약</a:t>
            </a:r>
            <a:endParaRPr lang="en-US" sz="2600" dirty="0"/>
          </a:p>
        </p:txBody>
      </p:sp>
      <p:sp>
        <p:nvSpPr>
          <p:cNvPr id="3" name="stat-card-0"/>
          <p:cNvSpPr/>
          <p:nvPr/>
        </p:nvSpPr>
        <p:spPr>
          <a:xfrm>
            <a:off x="457200" y="1051560"/>
            <a:ext cx="19202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4" name="stat-big-0"/>
          <p:cNvSpPr txBox="1"/>
          <p:nvPr/>
        </p:nvSpPr>
        <p:spPr>
          <a:xfrm>
            <a:off x="566928" y="12344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6.0×6.0 mm</a:t>
            </a:r>
            <a:endParaRPr lang="en-US" sz="2000" dirty="0"/>
          </a:p>
        </p:txBody>
      </p:sp>
      <p:sp>
        <p:nvSpPr>
          <p:cNvPr id="5" name="stat-label-0"/>
          <p:cNvSpPr txBox="1"/>
          <p:nvPr/>
        </p:nvSpPr>
        <p:spPr>
          <a:xfrm>
            <a:off x="566928" y="2011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두피 촬영 범위 (이상)</a:t>
            </a:r>
            <a:endParaRPr lang="en-US" sz="1200" dirty="0"/>
          </a:p>
        </p:txBody>
      </p:sp>
      <p:sp>
        <p:nvSpPr>
          <p:cNvPr id="6" name="stat-card-1"/>
          <p:cNvSpPr/>
          <p:nvPr/>
        </p:nvSpPr>
        <p:spPr>
          <a:xfrm>
            <a:off x="2560320" y="1051560"/>
            <a:ext cx="19202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7" name="stat-big-1"/>
          <p:cNvSpPr txBox="1"/>
          <p:nvPr/>
        </p:nvSpPr>
        <p:spPr>
          <a:xfrm>
            <a:off x="2670048" y="12344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20 mm</a:t>
            </a:r>
            <a:endParaRPr lang="en-US" sz="2000" dirty="0"/>
          </a:p>
        </p:txBody>
      </p:sp>
      <p:sp>
        <p:nvSpPr>
          <p:cNvPr id="8" name="stat-label-1"/>
          <p:cNvSpPr txBox="1"/>
          <p:nvPr/>
        </p:nvSpPr>
        <p:spPr>
          <a:xfrm>
            <a:off x="2670048" y="2011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카메라 모듈 ~ 피사체</a:t>
            </a:r>
            <a:endParaRPr lang="en-US" sz="1200" dirty="0"/>
          </a:p>
        </p:txBody>
      </p:sp>
      <p:sp>
        <p:nvSpPr>
          <p:cNvPr id="9" name="stat-card-2"/>
          <p:cNvSpPr/>
          <p:nvPr/>
        </p:nvSpPr>
        <p:spPr>
          <a:xfrm>
            <a:off x="4663440" y="1051560"/>
            <a:ext cx="19202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0" name="stat-big-2"/>
          <p:cNvSpPr txBox="1"/>
          <p:nvPr/>
        </p:nvSpPr>
        <p:spPr>
          <a:xfrm>
            <a:off x="4773168" y="12344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자동초점</a:t>
            </a:r>
            <a:endParaRPr lang="en-US" sz="2000" dirty="0"/>
          </a:p>
        </p:txBody>
      </p:sp>
      <p:sp>
        <p:nvSpPr>
          <p:cNvPr id="11" name="stat-label-2"/>
          <p:cNvSpPr txBox="1"/>
          <p:nvPr/>
        </p:nvSpPr>
        <p:spPr>
          <a:xfrm>
            <a:off x="4773168" y="2011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A·B안 모두 필수</a:t>
            </a:r>
            <a:endParaRPr lang="en-US" sz="1200" dirty="0"/>
          </a:p>
        </p:txBody>
      </p:sp>
      <p:sp>
        <p:nvSpPr>
          <p:cNvPr id="12" name="stat-card-3"/>
          <p:cNvSpPr/>
          <p:nvPr/>
        </p:nvSpPr>
        <p:spPr>
          <a:xfrm>
            <a:off x="6766560" y="1051560"/>
            <a:ext cx="19202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3" name="stat-big-3"/>
          <p:cNvSpPr txBox="1"/>
          <p:nvPr/>
        </p:nvSpPr>
        <p:spPr>
          <a:xfrm>
            <a:off x="6876288" y="12344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IMX708</a:t>
            </a:r>
            <a:endParaRPr lang="en-US" sz="2000" dirty="0"/>
          </a:p>
        </p:txBody>
      </p:sp>
      <p:sp>
        <p:nvSpPr>
          <p:cNvPr id="14" name="stat-label-3"/>
          <p:cNvSpPr txBox="1"/>
          <p:nvPr/>
        </p:nvSpPr>
        <p:spPr>
          <a:xfrm>
            <a:off x="6876288" y="2011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적용 센서 (1/2.43")</a:t>
            </a:r>
            <a:endParaRPr lang="en-US" sz="1200" dirty="0"/>
          </a:p>
        </p:txBody>
      </p:sp>
      <p:sp>
        <p:nvSpPr>
          <p:cNvPr id="15" name="summary-text"/>
          <p:cNvSpPr txBox="1"/>
          <p:nvPr/>
        </p:nvSpPr>
        <p:spPr>
          <a:xfrm>
            <a:off x="457200" y="28803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두 가지 개발 방식으로 각각 검토와 견적을 요청드립니다.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A안 덧대기: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기존 IMX708 AF 모듈 앞에 접사 렌즈를 덧대고, 모듈의 AF를 그대로 사용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4"/>
                </a:solidFill>
              </a:rPr>
              <a:t>B안 렌즈 교체: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원래 렌즈를 빼고 맞춤 접사 렌즈 + VCM으로 카메라 모듈을 새로 구성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경쟁사 제품 참고 (OV5648 모듈)</a:t>
            </a:r>
            <a:endParaRPr lang="en-US" sz="2600" dirty="0"/>
          </a:p>
        </p:txBody>
      </p:sp>
      <p:pic>
        <p:nvPicPr>
          <p:cNvPr id="3" name="competitor-photo" descr="/tmp/claude-0/-home-user-rv1106/727db895-9af2-52a2-801b-4518874079fd/scratchpad/pptx2/ppt/medi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023360" cy="3017520"/>
          </a:xfrm>
          <a:prstGeom prst="rect">
            <a:avLst/>
          </a:prstGeom>
        </p:spPr>
      </p:pic>
      <p:sp>
        <p:nvSpPr>
          <p:cNvPr id="4" name="photo-caption"/>
          <p:cNvSpPr txBox="1"/>
          <p:nvPr/>
        </p:nvSpPr>
        <p:spPr>
          <a:xfrm>
            <a:off x="457200" y="40965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경쟁사 두피 스캐너 내부 카메라 모듈</a:t>
            </a:r>
            <a:endParaRPr lang="en-US" sz="1000" dirty="0"/>
          </a:p>
        </p:txBody>
      </p:sp>
      <p:sp>
        <p:nvSpPr>
          <p:cNvPr id="5" name="competitor-facts"/>
          <p:cNvSpPr txBox="1"/>
          <p:nvPr/>
        </p:nvSpPr>
        <p:spPr>
          <a:xfrm>
            <a:off x="4846320" y="100584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제품 표기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센서 OV5648 (5 MP)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렌즈 초점거리 10 mm, 교체형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확대 20배 (휴대폰 화면 기준)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당사 추정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광학 배율 약 1:1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작업거리 약 20 mm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촬영 폭 약 3.7 mm (센서 폭과 같음)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적용 센서: Sony IMX708</a:t>
            </a:r>
            <a:endParaRPr lang="en-US" sz="2600" dirty="0"/>
          </a:p>
        </p:txBody>
      </p:sp>
      <p:graphicFrame>
        <p:nvGraphicFramePr>
          <p:cNvPr id="5" name="sensor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47548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해상도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4608 × 2592 (11.9 MP)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센서 유효 면적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6.45 × 3.63 mm (대각 7.4 mm)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픽셀 크기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1.4 µm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광학 포맷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1/2.43"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인터페이스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MIPI CSI-2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주광선 각도(CRA)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센서 데이터시트 기준, 협의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A안 기준 모듈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Camera Module 3 표준형 (75°)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ensor-area"/>
          <p:cNvSpPr/>
          <p:nvPr/>
        </p:nvSpPr>
        <p:spPr>
          <a:xfrm>
            <a:off x="5669280" y="1463040"/>
            <a:ext cx="3017520" cy="1698232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square-crop"/>
          <p:cNvSpPr/>
          <p:nvPr/>
        </p:nvSpPr>
        <p:spPr>
          <a:xfrm>
            <a:off x="6328924" y="1463040"/>
            <a:ext cx="1698232" cy="1698232"/>
          </a:xfrm>
          <a:prstGeom prst="rect">
            <a:avLst/>
          </a:prstGeom>
          <a:solidFill>
            <a:schemeClr val="accent3">
              <a:alpha val="30000"/>
            </a:schemeClr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6" name="crop-label"/>
          <p:cNvSpPr txBox="1"/>
          <p:nvPr/>
        </p:nvSpPr>
        <p:spPr>
          <a:xfrm>
            <a:off x="6328924" y="1463040"/>
            <a:ext cx="1698232" cy="1698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사용 영역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2592 × 2592</a:t>
            </a:r>
            <a:endParaRPr lang="en-US" sz="1200" dirty="0"/>
          </a:p>
        </p:txBody>
      </p:sp>
      <p:sp>
        <p:nvSpPr>
          <p:cNvPr id="7" name="sensor-label"/>
          <p:cNvSpPr txBox="1"/>
          <p:nvPr/>
        </p:nvSpPr>
        <p:spPr>
          <a:xfrm>
            <a:off x="5669280" y="1143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센서 6.45 × 3.63 mm</a:t>
            </a:r>
            <a:endParaRPr lang="en-US" sz="1100" dirty="0"/>
          </a:p>
        </p:txBody>
      </p:sp>
      <p:sp>
        <p:nvSpPr>
          <p:cNvPr id="8" name="crop-note"/>
          <p:cNvSpPr txBox="1"/>
          <p:nvPr/>
        </p:nvSpPr>
        <p:spPr>
          <a:xfrm>
            <a:off x="5669280" y="329843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두피 6.0 × 6.0 mm가 센서 세로 3.63 mm에 맺히도록 설계하고, 가운데 정사각형을 잘라 사용 (A·B안 공통)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두 가지 개발 방식 비교</a:t>
            </a:r>
            <a:endParaRPr lang="en-US" sz="2600" dirty="0"/>
          </a:p>
        </p:txBody>
      </p:sp>
      <p:graphicFrame>
        <p:nvGraphicFramePr>
          <p:cNvPr id="6" name="compar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A안 덧대기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B안 렌즈 교체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구성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IMX708 AF 모듈 + 덧대는 접사 렌즈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IMX708 + VCM + 맞춤 접사 렌즈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자동초점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기존 모듈의 VCM AF 그대로 사용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새 VCM으로 AF (0.3 mm 이상)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모듈 ~ 피사체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 mm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 mm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렌즈 앞 작업거리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약 7.5 mm (덧대는 렌즈 앞)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 mm (모듈 앞면 = 렌즈 앞)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렌즈 초점거리(추정)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약 7.8 mm (덧대는 렌즈)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약 7.5 mm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장점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기존 모듈과 AF 그대로, 개발 빠름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렌즈 앞 공간 넓어 조명 배치 쉬움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과제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덧대는 렌즈 지름 약 14 mm 필요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카메라 모듈 신규 개발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ompare-note"/>
          <p:cNvSpPr txBox="1"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※ A안은 Camera Module 3 표준형(75°) 기준입니다. Wide(120°)형은 덧대는 렌즈가 훨씬 강해져야 해서 적합하지 않습니다.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A안 덧대기: 광학 배치와 계산값</a:t>
            </a:r>
            <a:endParaRPr lang="en-US" sz="2600" dirty="0"/>
          </a:p>
        </p:txBody>
      </p:sp>
      <p:sp>
        <p:nvSpPr>
          <p:cNvPr id="3" name="a-total"/>
          <p:cNvSpPr/>
          <p:nvPr/>
        </p:nvSpPr>
        <p:spPr>
          <a:xfrm>
            <a:off x="868680" y="1325880"/>
            <a:ext cx="4773168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headEnd type="triangle"/>
            <a:tailEnd type="triangle"/>
          </a:ln>
        </p:spPr>
      </p:sp>
      <p:sp>
        <p:nvSpPr>
          <p:cNvPr id="4" name="a-total-label"/>
          <p:cNvSpPr txBox="1"/>
          <p:nvPr/>
        </p:nvSpPr>
        <p:spPr>
          <a:xfrm>
            <a:off x="594360" y="941832"/>
            <a:ext cx="5321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카메라 모듈 ~ 피사체 20 mm</a:t>
            </a:r>
            <a:endParaRPr lang="en-US" sz="1300" dirty="0"/>
          </a:p>
        </p:txBody>
      </p:sp>
      <p:sp>
        <p:nvSpPr>
          <p:cNvPr id="5" name="a-scalp"/>
          <p:cNvSpPr/>
          <p:nvPr/>
        </p:nvSpPr>
        <p:spPr>
          <a:xfrm>
            <a:off x="822960" y="1371600"/>
            <a:ext cx="0" cy="1097280"/>
          </a:xfrm>
          <a:prstGeom prst="line">
            <a:avLst/>
          </a:prstGeom>
          <a:noFill/>
          <a:ln w="50800">
            <a:solidFill>
              <a:schemeClr val="accent4"/>
            </a:solidFill>
            <a:prstDash val="solid"/>
          </a:ln>
        </p:spPr>
      </p:sp>
      <p:sp>
        <p:nvSpPr>
          <p:cNvPr id="6" name="a-scalp-label"/>
          <p:cNvSpPr txBox="1"/>
          <p:nvPr/>
        </p:nvSpPr>
        <p:spPr>
          <a:xfrm>
            <a:off x="457200" y="24871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두피</a:t>
            </a:r>
            <a:endParaRPr lang="en-US" sz="1200" dirty="0"/>
          </a:p>
        </p:txBody>
      </p:sp>
      <p:sp>
        <p:nvSpPr>
          <p:cNvPr id="7" name="a-addon"/>
          <p:cNvSpPr/>
          <p:nvPr/>
        </p:nvSpPr>
        <p:spPr>
          <a:xfrm>
            <a:off x="2743200" y="1417320"/>
            <a:ext cx="365760" cy="1005840"/>
          </a:xfrm>
          <a:prstGeom prst="ellipse">
            <a:avLst/>
          </a:prstGeom>
          <a:solidFill>
            <a:schemeClr val="accent3">
              <a:alpha val="60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8" name="a-addon-label"/>
          <p:cNvSpPr txBox="1"/>
          <p:nvPr/>
        </p:nvSpPr>
        <p:spPr>
          <a:xfrm>
            <a:off x="2240280" y="2487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덧대는 렌즈</a:t>
            </a:r>
            <a:endParaRPr lang="en-US" sz="1200" dirty="0"/>
          </a:p>
        </p:txBody>
      </p:sp>
      <p:sp>
        <p:nvSpPr>
          <p:cNvPr id="9" name="a-module"/>
          <p:cNvSpPr/>
          <p:nvPr/>
        </p:nvSpPr>
        <p:spPr>
          <a:xfrm>
            <a:off x="5669280" y="1371600"/>
            <a:ext cx="237744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0" name="a-module-label"/>
          <p:cNvSpPr txBox="1"/>
          <p:nvPr/>
        </p:nvSpPr>
        <p:spPr>
          <a:xfrm>
            <a:off x="5669280" y="13716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IMX708 AF 모듈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(기존 렌즈 + VCM)</a:t>
            </a:r>
            <a:endParaRPr lang="en-US" sz="1300" dirty="0"/>
          </a:p>
        </p:txBody>
      </p:sp>
      <p:sp>
        <p:nvSpPr>
          <p:cNvPr id="11" name="a-wd"/>
          <p:cNvSpPr/>
          <p:nvPr/>
        </p:nvSpPr>
        <p:spPr>
          <a:xfrm>
            <a:off x="868680" y="1920240"/>
            <a:ext cx="1847088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headEnd type="triangle"/>
            <a:tailEnd type="triangle"/>
          </a:ln>
        </p:spPr>
      </p:sp>
      <p:sp>
        <p:nvSpPr>
          <p:cNvPr id="12" name="a-wd-label"/>
          <p:cNvSpPr txBox="1"/>
          <p:nvPr/>
        </p:nvSpPr>
        <p:spPr>
          <a:xfrm>
            <a:off x="594360" y="153619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약 7.5 mm</a:t>
            </a:r>
            <a:endParaRPr lang="en-US" sz="1300" dirty="0"/>
          </a:p>
        </p:txBody>
      </p:sp>
      <p:sp>
        <p:nvSpPr>
          <p:cNvPr id="13" name="a-gap"/>
          <p:cNvSpPr/>
          <p:nvPr/>
        </p:nvSpPr>
        <p:spPr>
          <a:xfrm>
            <a:off x="3136392" y="1920240"/>
            <a:ext cx="2505456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headEnd type="triangle"/>
            <a:tailEnd type="triangle"/>
          </a:ln>
        </p:spPr>
      </p:sp>
      <p:sp>
        <p:nvSpPr>
          <p:cNvPr id="14" name="a-gap-label"/>
          <p:cNvSpPr txBox="1"/>
          <p:nvPr/>
        </p:nvSpPr>
        <p:spPr>
          <a:xfrm>
            <a:off x="2862072" y="1536192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약 10 mm</a:t>
            </a:r>
            <a:endParaRPr lang="en-US" sz="1300" dirty="0"/>
          </a:p>
        </p:txBody>
      </p:sp>
      <p:graphicFrame>
        <p:nvGraphicFramePr>
          <p:cNvPr id="7" name="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16352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덧대는 렌즈 초점거리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약 7.8 mm (기존 렌즈 4.74 mm 기준), 1매/2매 구성은 귀사 제안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거리 배분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모듈~렌즈 약 10 mm + 렌즈 두께 약 2.5 mm + 작업거리 약 7.5 mm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덧대는 렌즈 지름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약 14 mm 이상 (모듈과 10 mm 떨어져 광선이 퍼짐)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AF 보정 범위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기존 AF 10 cm~∞ → 두피 거리 약 0.6 mm 보정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a-note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※ 얇은 렌즈 근사값입니다. 렌즈 위치·구성과 모듈 고정 홀더는 귀사 제안을 따릅니다.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B안 렌즈 교체: 광학 배치와 계산값</a:t>
            </a:r>
            <a:endParaRPr lang="en-US" sz="2600" dirty="0"/>
          </a:p>
        </p:txBody>
      </p:sp>
      <p:sp>
        <p:nvSpPr>
          <p:cNvPr id="3" name="b-scalp"/>
          <p:cNvSpPr/>
          <p:nvPr/>
        </p:nvSpPr>
        <p:spPr>
          <a:xfrm>
            <a:off x="822960" y="1280160"/>
            <a:ext cx="0" cy="1097280"/>
          </a:xfrm>
          <a:prstGeom prst="line">
            <a:avLst/>
          </a:prstGeom>
          <a:noFill/>
          <a:ln w="50800">
            <a:solidFill>
              <a:schemeClr val="accent4"/>
            </a:solidFill>
            <a:prstDash val="solid"/>
          </a:ln>
        </p:spPr>
      </p:sp>
      <p:sp>
        <p:nvSpPr>
          <p:cNvPr id="4" name="b-scalp-label"/>
          <p:cNvSpPr txBox="1"/>
          <p:nvPr/>
        </p:nvSpPr>
        <p:spPr>
          <a:xfrm>
            <a:off x="457200" y="2450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두피</a:t>
            </a:r>
            <a:endParaRPr lang="en-US" sz="1200" dirty="0"/>
          </a:p>
        </p:txBody>
      </p:sp>
      <p:sp>
        <p:nvSpPr>
          <p:cNvPr id="5" name="b-module"/>
          <p:cNvSpPr/>
          <p:nvPr/>
        </p:nvSpPr>
        <p:spPr>
          <a:xfrm>
            <a:off x="4206240" y="1051560"/>
            <a:ext cx="384048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6" name="b-module-label"/>
          <p:cNvSpPr txBox="1"/>
          <p:nvPr/>
        </p:nvSpPr>
        <p:spPr>
          <a:xfrm>
            <a:off x="521208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새 카메라 모듈</a:t>
            </a:r>
            <a:endParaRPr lang="en-US" sz="1200" dirty="0"/>
          </a:p>
        </p:txBody>
      </p:sp>
      <p:sp>
        <p:nvSpPr>
          <p:cNvPr id="7" name="b-vcm"/>
          <p:cNvSpPr/>
          <p:nvPr/>
        </p:nvSpPr>
        <p:spPr>
          <a:xfrm>
            <a:off x="4343400" y="1234440"/>
            <a:ext cx="640080" cy="11887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8" name="b-lens"/>
          <p:cNvSpPr/>
          <p:nvPr/>
        </p:nvSpPr>
        <p:spPr>
          <a:xfrm>
            <a:off x="4480560" y="1371600"/>
            <a:ext cx="365760" cy="91440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9" name="b-lens-label"/>
          <p:cNvSpPr txBox="1"/>
          <p:nvPr/>
        </p:nvSpPr>
        <p:spPr>
          <a:xfrm>
            <a:off x="4206240" y="10789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렌즈+VCM</a:t>
            </a:r>
            <a:endParaRPr lang="en-US" sz="900" dirty="0"/>
          </a:p>
        </p:txBody>
      </p:sp>
      <p:sp>
        <p:nvSpPr>
          <p:cNvPr id="10" name="b-sensor"/>
          <p:cNvSpPr/>
          <p:nvPr/>
        </p:nvSpPr>
        <p:spPr>
          <a:xfrm>
            <a:off x="7589520" y="1417320"/>
            <a:ext cx="164592" cy="8229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1" name="b-sensor-label"/>
          <p:cNvSpPr txBox="1"/>
          <p:nvPr/>
        </p:nvSpPr>
        <p:spPr>
          <a:xfrm>
            <a:off x="7086600" y="10789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IMX708</a:t>
            </a:r>
            <a:endParaRPr lang="en-US" sz="900" dirty="0"/>
          </a:p>
        </p:txBody>
      </p:sp>
      <p:sp>
        <p:nvSpPr>
          <p:cNvPr id="12" name="b-wd"/>
          <p:cNvSpPr/>
          <p:nvPr/>
        </p:nvSpPr>
        <p:spPr>
          <a:xfrm>
            <a:off x="868680" y="1828800"/>
            <a:ext cx="3310128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headEnd type="triangle"/>
            <a:tailEnd type="triangle"/>
          </a:ln>
        </p:spPr>
      </p:sp>
      <p:sp>
        <p:nvSpPr>
          <p:cNvPr id="13" name="b-wd-label"/>
          <p:cNvSpPr txBox="1"/>
          <p:nvPr/>
        </p:nvSpPr>
        <p:spPr>
          <a:xfrm>
            <a:off x="594360" y="1444752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카메라 모듈 ~ 피사체 20 mm</a:t>
            </a:r>
            <a:endParaRPr lang="en-US" sz="1300" dirty="0"/>
          </a:p>
        </p:txBody>
      </p:sp>
      <p:sp>
        <p:nvSpPr>
          <p:cNvPr id="14" name="b-bf"/>
          <p:cNvSpPr/>
          <p:nvPr/>
        </p:nvSpPr>
        <p:spPr>
          <a:xfrm>
            <a:off x="5010912" y="1828800"/>
            <a:ext cx="2551176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headEnd type="triangle"/>
            <a:tailEnd type="triangle"/>
          </a:ln>
        </p:spPr>
      </p:sp>
      <p:sp>
        <p:nvSpPr>
          <p:cNvPr id="15" name="b-bf-label"/>
          <p:cNvSpPr txBox="1"/>
          <p:nvPr/>
        </p:nvSpPr>
        <p:spPr>
          <a:xfrm>
            <a:off x="4736592" y="1444752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약 12 mm</a:t>
            </a:r>
            <a:endParaRPr lang="en-US" sz="1300" dirty="0"/>
          </a:p>
        </p:txBody>
      </p:sp>
      <p:graphicFrame>
        <p:nvGraphicFramePr>
          <p:cNvPr id="8" name="b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광학 배율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약 0.60배 (센서 세로 3.63 mm ÷ 두피 6.0 mm)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렌즈 초점거리 (추정)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약 7.5 mm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AF 보정 범위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VCM 스트로크 0.3 mm → 두피 거리 약 ±0.4 mm 보정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모듈 길이 (추정)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약 15–17 mm (렌즈~센서 약 12 mm + 렌즈 두께)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b-note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※ 얇은 렌즈 근사값입니다. 실제 설계값은 귀사 제안을 따릅니다.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광학 요구 사양 (A·B안 공통)</a:t>
            </a:r>
            <a:endParaRPr lang="en-US" sz="2600" dirty="0"/>
          </a:p>
        </p:txBody>
      </p:sp>
      <p:graphicFrame>
        <p:nvGraphicFramePr>
          <p:cNvPr id="9" name="optic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촬영 범위 (FOV)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6.0 × 6.0 mm 이상 (센서 세로 3.63 mm 기준)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자동초점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필수 (A안: 기존 모듈 AF, B안: 새 VCM)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모듈 ~ 피사체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카메라 모듈 앞면 ~ 피사체 20 mm (A·B안 공통)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이미지 서클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B안 7.4 mm 이상 (센서 대각)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해상도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피사체 기준 10 µm 구분 (중심부), 주변부 협의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피사계 심도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±0.25 mm 이상 희망 (귀사 제안)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왜곡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2% 이하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파장 / 필터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가시광 420–650 nm, IR-cut 650 nm, 420 nm 이하 차단 코팅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초점 · 조명 · 기구 조건</a:t>
            </a:r>
            <a:endParaRPr lang="en-US" sz="2600" dirty="0"/>
          </a:p>
        </p:txBody>
      </p:sp>
      <p:sp>
        <p:nvSpPr>
          <p:cNvPr id="3" name="cond-card-0"/>
          <p:cNvSpPr/>
          <p:nvPr/>
        </p:nvSpPr>
        <p:spPr>
          <a:xfrm>
            <a:off x="457200" y="1005840"/>
            <a:ext cx="256032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4" name="cond-dot-0"/>
          <p:cNvSpPr/>
          <p:nvPr/>
        </p:nvSpPr>
        <p:spPr>
          <a:xfrm>
            <a:off x="685800" y="11887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cond-head-0"/>
          <p:cNvSpPr txBox="1"/>
          <p:nvPr/>
        </p:nvSpPr>
        <p:spPr>
          <a:xfrm>
            <a:off x="1188720" y="11887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초점</a:t>
            </a:r>
            <a:endParaRPr lang="en-US" sz="1800" dirty="0"/>
          </a:p>
        </p:txBody>
      </p:sp>
      <p:sp>
        <p:nvSpPr>
          <p:cNvPr id="6" name="cond-body-0"/>
          <p:cNvSpPr txBox="1"/>
          <p:nvPr/>
        </p:nvSpPr>
        <p:spPr>
          <a:xfrm>
            <a:off x="685800" y="17830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자동초점 필수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A안: 기존 모듈 AF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B안: VCM 0.3 mm↑</a:t>
            </a:r>
            <a:endParaRPr lang="en-US" sz="1400" dirty="0"/>
          </a:p>
        </p:txBody>
      </p:sp>
      <p:sp>
        <p:nvSpPr>
          <p:cNvPr id="7" name="cond-card-1"/>
          <p:cNvSpPr/>
          <p:nvPr/>
        </p:nvSpPr>
        <p:spPr>
          <a:xfrm>
            <a:off x="3291840" y="1005840"/>
            <a:ext cx="256032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8" name="cond-dot-1"/>
          <p:cNvSpPr/>
          <p:nvPr/>
        </p:nvSpPr>
        <p:spPr>
          <a:xfrm>
            <a:off x="3520440" y="118872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cond-head-1"/>
          <p:cNvSpPr txBox="1"/>
          <p:nvPr/>
        </p:nvSpPr>
        <p:spPr>
          <a:xfrm>
            <a:off x="4023360" y="11887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조명</a:t>
            </a:r>
            <a:endParaRPr lang="en-US" sz="1800" dirty="0"/>
          </a:p>
        </p:txBody>
      </p:sp>
      <p:sp>
        <p:nvSpPr>
          <p:cNvPr id="10" name="cond-body-1"/>
          <p:cNvSpPr txBox="1"/>
          <p:nvPr/>
        </p:nvSpPr>
        <p:spPr>
          <a:xfrm>
            <a:off x="3520440" y="17830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백색 LED (CRI 90+)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UV 365/395/405 nm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교차 편광 필름 공간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UV 반사광 차단 코팅</a:t>
            </a:r>
            <a:endParaRPr lang="en-US" sz="1400" dirty="0"/>
          </a:p>
        </p:txBody>
      </p:sp>
      <p:sp>
        <p:nvSpPr>
          <p:cNvPr id="11" name="cond-card-2"/>
          <p:cNvSpPr/>
          <p:nvPr/>
        </p:nvSpPr>
        <p:spPr>
          <a:xfrm>
            <a:off x="6126480" y="1005840"/>
            <a:ext cx="256032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2" name="cond-dot-2"/>
          <p:cNvSpPr/>
          <p:nvPr/>
        </p:nvSpPr>
        <p:spPr>
          <a:xfrm>
            <a:off x="6355080" y="1188720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3" name="cond-head-2"/>
          <p:cNvSpPr txBox="1"/>
          <p:nvPr/>
        </p:nvSpPr>
        <p:spPr>
          <a:xfrm>
            <a:off x="6858000" y="11887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기구</a:t>
            </a:r>
            <a:endParaRPr lang="en-US" sz="1800" dirty="0"/>
          </a:p>
        </p:txBody>
      </p:sp>
      <p:sp>
        <p:nvSpPr>
          <p:cNvPr id="14" name="cond-body-2"/>
          <p:cNvSpPr txBox="1"/>
          <p:nvPr/>
        </p:nvSpPr>
        <p:spPr>
          <a:xfrm>
            <a:off x="6355080" y="17830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손잡이 외경 30–35 mm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모듈~피사체 20 mm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B안 모듈 길이 20 mm↓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마운트 M12 또는 제안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회신 요청 사항 (A·B안 각각)</a:t>
            </a:r>
            <a:endParaRPr lang="en-US" sz="3000" dirty="0"/>
          </a:p>
        </p:txBody>
      </p:sp>
      <p:sp>
        <p:nvSpPr>
          <p:cNvPr id="3" name="reply-list"/>
          <p:cNvSpPr txBox="1"/>
          <p:nvPr/>
        </p:nvSpPr>
        <p:spPr>
          <a:xfrm>
            <a:off x="548640" y="1371600"/>
            <a:ext cx="6309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설계 가능 여부와 제안 사양 (F값, MTF, 전장)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렌즈 데이터시트 및 도면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샘플: 수량 3–5개, 샘플 비용, 샘플 납기 (한국 배송 포함)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양산 단가 (1,000개 / 5,000개 기준)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개발 기간과 개발비 (B안은 VCM 카메라 모듈 포함)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귀사가 추천하는 방식과 그 이유</a:t>
            </a:r>
            <a:endParaRPr lang="en-US" sz="1600" dirty="0"/>
          </a:p>
        </p:txBody>
      </p:sp>
      <p:sp>
        <p:nvSpPr>
          <p:cNvPr id="4" name="end-ring0"/>
          <p:cNvSpPr/>
          <p:nvPr/>
        </p:nvSpPr>
        <p:spPr>
          <a:xfrm>
            <a:off x="7132320" y="2148840"/>
            <a:ext cx="1554480" cy="1554480"/>
          </a:xfrm>
          <a:prstGeom prst="ellipse">
            <a:avLst/>
          </a:prstGeom>
          <a:ln w="31750">
            <a:solidFill>
              <a:srgbClr val="1F7A8C"/>
            </a:solidFill>
            <a:prstDash val="solid"/>
          </a:ln>
        </p:spPr>
      </p:sp>
      <p:sp>
        <p:nvSpPr>
          <p:cNvPr id="5" name="end-ring1"/>
          <p:cNvSpPr/>
          <p:nvPr/>
        </p:nvSpPr>
        <p:spPr>
          <a:xfrm>
            <a:off x="7349947" y="2366467"/>
            <a:ext cx="1119226" cy="1119226"/>
          </a:xfrm>
          <a:prstGeom prst="ellipse">
            <a:avLst/>
          </a:prstGeom>
          <a:ln w="25400">
            <a:solidFill>
              <a:srgbClr val="1F7A8C"/>
            </a:solidFill>
            <a:prstDash val="solid"/>
          </a:ln>
        </p:spPr>
      </p:sp>
      <p:sp>
        <p:nvSpPr>
          <p:cNvPr id="6" name="end-ring2"/>
          <p:cNvSpPr/>
          <p:nvPr/>
        </p:nvSpPr>
        <p:spPr>
          <a:xfrm>
            <a:off x="7567574" y="2584094"/>
            <a:ext cx="683971" cy="683971"/>
          </a:xfrm>
          <a:prstGeom prst="ellipse">
            <a:avLst/>
          </a:prstGeom>
          <a:ln w="19050">
            <a:solidFill>
              <a:srgbClr val="1F7A8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Scalp Lens RFQ">
  <a:themeElements>
    <a:clrScheme name="Scalp Lens RFQ">
      <a:dk1>
        <a:srgbClr val="16262E"/>
      </a:dk1>
      <a:lt1>
        <a:srgbClr val="FFFFFF"/>
      </a:lt1>
      <a:dk2>
        <a:srgbClr val="0B3C49"/>
      </a:dk2>
      <a:lt2>
        <a:srgbClr val="EAF2F4"/>
      </a:lt2>
      <a:accent1>
        <a:srgbClr val="0B3C49"/>
      </a:accent1>
      <a:accent2>
        <a:srgbClr val="1F7A8C"/>
      </a:accent2>
      <a:accent3>
        <a:srgbClr val="F29E38"/>
      </a:accent3>
      <a:accent4>
        <a:srgbClr val="7A4FB5"/>
      </a:accent4>
      <a:accent5>
        <a:srgbClr val="5B6B73"/>
      </a:accent5>
      <a:accent6>
        <a:srgbClr val="BFD7DE"/>
      </a:accent6>
      <a:hlink>
        <a:srgbClr val="1F7A8C"/>
      </a:hlink>
      <a:folHlink>
        <a:srgbClr val="5B6B73"/>
      </a:folHlink>
    </a:clrScheme>
    <a:fontScheme name="Scalp Lens RFQ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두피 스캐너용 자동초점 접사 렌즈 제작 요청</dc:title>
  <dc:subject>PptxGenJS Presentation</dc:subject>
  <dc:creator>PptxGenJS</dc:creator>
  <cp:lastModifiedBy>PptxGenJS</cp:lastModifiedBy>
  <cp:revision>1</cp:revision>
  <dcterms:created xsi:type="dcterms:W3CDTF">2026-10-22T03:06:32Z</dcterms:created>
  <dcterms:modified xsi:type="dcterms:W3CDTF">2026-10-22T03:06:32Z</dcterms:modified>
</cp:coreProperties>
</file>